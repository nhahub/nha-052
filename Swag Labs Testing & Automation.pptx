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JetBrains Mono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7EB0679-A7C9-446B-9019-816AF98FA4F6}">
  <a:tblStyle styleId="{47EB0679-A7C9-446B-9019-816AF98FA4F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207865"/>
            <a:ext cx="9001125" cy="1657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Swag Labs Testing &amp; Automation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055715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FINAL PROJECT DOCUMENTATION | DEPI INITIATIVE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71712"/>
            <a:ext cx="5334000" cy="3009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71712"/>
            <a:ext cx="5334000" cy="300975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2662237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Project Context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3348037"/>
            <a:ext cx="45529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project is part of the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Digital Egypt Pioneers Initiative (DEPI)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The primary objective is to execute a comprehensive Quality Assurance cycle, encompassing both manual and automation testing strategies.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77025" y="2662237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Target Application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77025" y="3348037"/>
            <a:ext cx="45529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Swag Labs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(saucedemo.com) serves as the testing ground. It is an educational e-commerce platform designed to simulate real-world QA scenarios, including Login, Inventory, and Checkout flows.</a:t>
            </a:r>
            <a:endParaRPr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690812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69081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71500" y="2315616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In Scope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381750" y="25241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Out of Scope</a:t>
            </a:r>
            <a:endParaRPr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34666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57250" y="2725191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Login Functionality Validation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7250" y="3142357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Inventory Browsing &amp; Filtering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57250" y="3559522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Add to Cart &amp; Cart Management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57250" y="3976687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Full Checkout Process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57250" y="4393852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Manual Test Case Execution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57250" y="4811017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Selenium Automation (Java)</a:t>
            </a:r>
            <a:endParaRPr/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543175"/>
            <a:ext cx="180975" cy="17829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667500" y="2933700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Performance Testing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6667500" y="3350865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Security Vulnerability Scanning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667500" y="3768030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Load &amp; Stress Testing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667500" y="4185195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Penetration Testing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667500" y="4602360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Mobile Application Testing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2706141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3123307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71500" y="3540472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71500" y="3957637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571500" y="4374802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571500" y="4791967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381750" y="2914650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381750" y="333181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381750" y="3748980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381750" y="416614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381750" y="4583310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Project Scope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5569"/>
            <a:ext cx="3492549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75569"/>
            <a:ext cx="3492549" cy="3202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75569"/>
            <a:ext cx="3492549" cy="320218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1547604" y="3223319"/>
            <a:ext cx="154019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Methodology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66775" y="3813869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Functional, UI, Negative, and Regression testing to ensure application stability and reliability across core updates.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780960" y="3223319"/>
            <a:ext cx="63007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Tools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4645074" y="3813869"/>
            <a:ext cx="290199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Google Sheets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Test Management , Excel for Bug Tracking, and 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Postman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API checks.</a:t>
            </a:r>
            <a:endParaRPr dirty="0"/>
          </a:p>
        </p:txBody>
      </p:sp>
      <p:sp>
        <p:nvSpPr>
          <p:cNvPr id="147" name="Google Shape;147;p16"/>
          <p:cNvSpPr txBox="1"/>
          <p:nvPr/>
        </p:nvSpPr>
        <p:spPr>
          <a:xfrm>
            <a:off x="9134207" y="3223319"/>
            <a:ext cx="148018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Environment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423374" y="3813869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Tests executed on the Production Demo environment using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Google Chrome 131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consistent rendering.</a:t>
            </a:r>
            <a:endParaRPr/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9100" y="251846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518469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45699" y="2518469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Test Strategy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9" name="Google Shape;159;p17"/>
          <p:cNvGraphicFramePr/>
          <p:nvPr>
            <p:extLst>
              <p:ext uri="{D42A27DB-BD31-4B8C-83A1-F6EECF244321}">
                <p14:modId xmlns:p14="http://schemas.microsoft.com/office/powerpoint/2010/main" val="3805506293"/>
              </p:ext>
            </p:extLst>
          </p:nvPr>
        </p:nvGraphicFramePr>
        <p:xfrm>
          <a:off x="571500" y="2067966"/>
          <a:ext cx="11049000" cy="3417450"/>
        </p:xfrm>
        <a:graphic>
          <a:graphicData uri="http://schemas.openxmlformats.org/drawingml/2006/table">
            <a:tbl>
              <a:tblPr firstRow="1" bandRow="1">
                <a:noFill/>
                <a:tableStyleId>{47EB0679-A7C9-446B-9019-816AF98FA4F6}</a:tableStyleId>
              </a:tblPr>
              <a:tblGrid>
                <a:gridCol w="1657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Requirement 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REQ-01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The system shall allow users to log in using valid credentials.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REQ-02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The inventory page shall display all available products correctly.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REQ-03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Users shall be able to add specific items to the shopping cart.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REQ-04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The checkout process shall require valid user information.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REQ-05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Users shall be able to remove items from the cart seamlessly.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0" name="Google Shape;160;p17"/>
          <p:cNvSpPr/>
          <p:nvPr/>
        </p:nvSpPr>
        <p:spPr>
          <a:xfrm>
            <a:off x="571500" y="2618482"/>
            <a:ext cx="16573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2228850" y="2618482"/>
            <a:ext cx="9391650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71500" y="3202334"/>
            <a:ext cx="16573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2228850" y="3202334"/>
            <a:ext cx="9391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571500" y="3771900"/>
            <a:ext cx="16573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2228850" y="3771900"/>
            <a:ext cx="9391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571500" y="4341465"/>
            <a:ext cx="16573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2228850" y="4341465"/>
            <a:ext cx="9391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571500" y="4911030"/>
            <a:ext cx="16573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2228850" y="4911030"/>
            <a:ext cx="93916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Manual Testing Requirements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571500" y="1766887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User Story: Login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571500" y="2443162"/>
            <a:ext cx="4953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571500" y="2462212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US-01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571500" y="2947987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"As a Standard User, I want to log in with valid credentials So that I can access the Inventory page."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71500" y="3782317"/>
            <a:ext cx="52006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Acceptance Criteria:</a:t>
            </a:r>
            <a:endParaRPr/>
          </a:p>
        </p:txBody>
      </p:sp>
      <p:pic>
        <p:nvPicPr>
          <p:cNvPr id="182" name="Google Shape;18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666750" y="411474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62000" y="4115692"/>
            <a:ext cx="4762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Valid credentials redirect to </a:t>
            </a:r>
            <a:r>
              <a:rPr lang="en-US" sz="1350" b="0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/inventory.html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66750" y="438903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762000" y="4389983"/>
            <a:ext cx="4762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Invalid credentials display a red error message.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66750" y="466332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62000" y="4664273"/>
            <a:ext cx="47625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Empty username/password triggers a validation error.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4" name="Google Shape;194;p19"/>
          <p:cNvGraphicFramePr/>
          <p:nvPr/>
        </p:nvGraphicFramePr>
        <p:xfrm>
          <a:off x="571500" y="23526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{47EB0679-A7C9-446B-9019-816AF98FA4F6}</a:tableStyleId>
              </a:tblPr>
              <a:tblGrid>
                <a:gridCol w="163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Title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Steps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Expected Result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TC-LOGIN-01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Valid Login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Enter valid user/pass &amp; Click Login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Redirect to Inventory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TC-LOGIN-02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Invalid Login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Enter invalid creds &amp; Click Login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Error message displayed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TC-INV-01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Add to Cart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Click "Add to Cart"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Cart icon count +1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TC-CHK-01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Checkout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Fill form &amp; Click Finish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CBD5E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"Complete" page appears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5" name="Google Shape;195;p19"/>
          <p:cNvSpPr/>
          <p:nvPr/>
        </p:nvSpPr>
        <p:spPr>
          <a:xfrm>
            <a:off x="571500" y="2903190"/>
            <a:ext cx="1632346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2203846" y="2903190"/>
            <a:ext cx="1870323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4074169" y="2903190"/>
            <a:ext cx="4486572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8560742" y="2903190"/>
            <a:ext cx="3059757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571500" y="3487042"/>
            <a:ext cx="16323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2203846" y="3487042"/>
            <a:ext cx="18703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4074169" y="3487042"/>
            <a:ext cx="44865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8560742" y="3487042"/>
            <a:ext cx="30597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571500" y="4056608"/>
            <a:ext cx="16323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2203846" y="4056608"/>
            <a:ext cx="18703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4074169" y="4056608"/>
            <a:ext cx="44865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8560742" y="4056608"/>
            <a:ext cx="30597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71500" y="4626173"/>
            <a:ext cx="16323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2203846" y="4626173"/>
            <a:ext cx="187032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4074169" y="4626173"/>
            <a:ext cx="44865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8560742" y="4626173"/>
            <a:ext cx="30597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Test Cases (Sample)</a:t>
            </a:r>
            <a:endParaRPr/>
          </a:p>
        </p:txBody>
      </p:sp>
      <p:sp>
        <p:nvSpPr>
          <p:cNvPr id="212" name="Google Shape;212;p19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33550"/>
            <a:ext cx="5334000" cy="4086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733550"/>
            <a:ext cx="5334000" cy="408607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0"/>
          <p:cNvSpPr txBox="1"/>
          <p:nvPr/>
        </p:nvSpPr>
        <p:spPr>
          <a:xfrm>
            <a:off x="962025" y="212407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Traceability Matrix (RTM)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962025" y="2809875"/>
            <a:ext cx="45529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Ensuring complete test coverage by mapping Requirements to Test Cases.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677025" y="2124075"/>
            <a:ext cx="478059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Defect Report Sample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6677025" y="2809875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BUG-007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6677025" y="3427065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Title: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Cart icon does not update for multiple items.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677025" y="3968055"/>
            <a:ext cx="4552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Priority: High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Severity: Medium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677025" y="4556670"/>
            <a:ext cx="45529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Actual: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Cart icon stuck on "1".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Expected:</a:t>
            </a: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Cart count shows "2".</a:t>
            </a:r>
            <a:endParaRPr/>
          </a:p>
        </p:txBody>
      </p:sp>
      <p:pic>
        <p:nvPicPr>
          <p:cNvPr id="227" name="Google Shape;22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152650"/>
            <a:ext cx="333375" cy="266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8" name="Google Shape;228;p20"/>
          <p:cNvGraphicFramePr/>
          <p:nvPr>
            <p:extLst>
              <p:ext uri="{D42A27DB-BD31-4B8C-83A1-F6EECF244321}">
                <p14:modId xmlns:p14="http://schemas.microsoft.com/office/powerpoint/2010/main" val="359874195"/>
              </p:ext>
            </p:extLst>
          </p:nvPr>
        </p:nvGraphicFramePr>
        <p:xfrm>
          <a:off x="962025" y="3720405"/>
          <a:ext cx="4552950" cy="1708725"/>
        </p:xfrm>
        <a:graphic>
          <a:graphicData uri="http://schemas.openxmlformats.org/drawingml/2006/table">
            <a:tbl>
              <a:tblPr firstRow="1" bandRow="1">
                <a:noFill/>
                <a:tableStyleId>{47EB0679-A7C9-446B-9019-816AF98FA4F6}</a:tableStyleId>
              </a:tblPr>
              <a:tblGrid>
                <a:gridCol w="131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REQ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Story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F8FAFC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Test Case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REQ-01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US-01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TC-LOGIN-01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REQ-03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US-03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JetBrains Mono"/>
                          <a:ea typeface="JetBrains Mono"/>
                          <a:cs typeface="JetBrains Mono"/>
                          <a:sym typeface="JetBrains Mono"/>
                        </a:rPr>
                        <a:t>TC-INV-01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29" name="Google Shape;22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15265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/>
          <p:nvPr/>
        </p:nvSpPr>
        <p:spPr>
          <a:xfrm>
            <a:off x="962025" y="4270920"/>
            <a:ext cx="1316384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2278409" y="4270920"/>
            <a:ext cx="1165621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3444031" y="4270920"/>
            <a:ext cx="2070943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62025" y="4854773"/>
            <a:ext cx="131638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2278409" y="4854773"/>
            <a:ext cx="11656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3444031" y="4854773"/>
            <a:ext cx="207094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Traceability &amp; Defects</a:t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571500" y="2444204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Automation Scope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571500" y="2834729"/>
            <a:ext cx="52387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Automation focuses on critical, repetitive paths to ensure regression stability. Unstable UI elements (animations) are excluded.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6381750" y="25812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Framework Details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6381750" y="2971800"/>
            <a:ext cx="52387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Built using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Selenium WebDriver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with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Java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implementing the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Page Object Model (POM)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design pattern.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857250" y="3848100"/>
            <a:ext cx="4953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    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Successful Login Flow</a:t>
            </a:r>
            <a:endParaRPr dirty="0"/>
          </a:p>
        </p:txBody>
      </p:sp>
      <p:sp>
        <p:nvSpPr>
          <p:cNvPr id="248" name="Google Shape;248;p21"/>
          <p:cNvSpPr txBox="1"/>
          <p:nvPr/>
        </p:nvSpPr>
        <p:spPr>
          <a:xfrm>
            <a:off x="857250" y="4265265"/>
            <a:ext cx="4953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     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Add Item to Cart</a:t>
            </a:r>
            <a:endParaRPr dirty="0"/>
          </a:p>
        </p:txBody>
      </p:sp>
      <p:sp>
        <p:nvSpPr>
          <p:cNvPr id="249" name="Google Shape;249;p21"/>
          <p:cNvSpPr txBox="1"/>
          <p:nvPr/>
        </p:nvSpPr>
        <p:spPr>
          <a:xfrm>
            <a:off x="857250" y="4682430"/>
            <a:ext cx="4953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EG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     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End-to-End Checkout</a:t>
            </a:r>
            <a:endParaRPr dirty="0"/>
          </a:p>
        </p:txBody>
      </p:sp>
      <p:sp>
        <p:nvSpPr>
          <p:cNvPr id="250" name="Google Shape;250;p21"/>
          <p:cNvSpPr txBox="1"/>
          <p:nvPr/>
        </p:nvSpPr>
        <p:spPr>
          <a:xfrm>
            <a:off x="6667500" y="3710880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Separation of Test Logic &amp; Locators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6667500" y="4128045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Reusability of code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6667500" y="4545210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Explicit Waits for synchronization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571500" y="3829050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id="254" name="Google Shape;25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3895725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571500" y="424621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id="256" name="Google Shape;25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4312890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571500" y="4663380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pic>
        <p:nvPicPr>
          <p:cNvPr id="258" name="Google Shape;25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4730055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1"/>
          <p:cNvSpPr txBox="1"/>
          <p:nvPr/>
        </p:nvSpPr>
        <p:spPr>
          <a:xfrm>
            <a:off x="6381750" y="3691830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381750" y="4108995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381750" y="4526160"/>
            <a:ext cx="133350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Automation Strategy</a:t>
            </a:r>
            <a:endParaRPr/>
          </a:p>
        </p:txBody>
      </p:sp>
      <p:sp>
        <p:nvSpPr>
          <p:cNvPr id="263" name="Google Shape;263;p21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32807"/>
            <a:ext cx="3093690" cy="2068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49080" y="3069877"/>
            <a:ext cx="3093690" cy="1794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26660" y="3069877"/>
            <a:ext cx="3093690" cy="179442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/>
          <p:nvPr/>
        </p:nvSpPr>
        <p:spPr>
          <a:xfrm>
            <a:off x="571500" y="3957637"/>
            <a:ext cx="11049000" cy="1905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704183" y="3132832"/>
            <a:ext cx="282832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Scenario 1: Login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771525" y="3532882"/>
            <a:ext cx="269364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Navigate to login, enter valid credentials, and assert redirection to the Inventory page.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4681764" y="3269902"/>
            <a:ext cx="282832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Scenario 2: Cart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4749105" y="3669952"/>
            <a:ext cx="269364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Identify a specific product, click "Add to Cart", and assert the badge count updates.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8659344" y="3269902"/>
            <a:ext cx="282832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Scenario 3: Checkout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8726685" y="3669952"/>
            <a:ext cx="269364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Proceed to cart, fill customer details, complete order, and verify success message.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Automated Scenarios</a:t>
            </a: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3"/>
          <p:cNvSpPr txBox="1"/>
          <p:nvPr/>
        </p:nvSpPr>
        <p:spPr>
          <a:xfrm>
            <a:off x="571500" y="1279326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Page Object Model</a:t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71500" y="1955601"/>
            <a:ext cx="4953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 txBox="1"/>
          <p:nvPr/>
        </p:nvSpPr>
        <p:spPr>
          <a:xfrm>
            <a:off x="571500" y="2146101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framework utilizes a modular structure to enhance maintainability and readability.</a:t>
            </a:r>
            <a:endParaRPr/>
          </a:p>
        </p:txBody>
      </p:sp>
      <p:pic>
        <p:nvPicPr>
          <p:cNvPr id="289" name="Google Shape;28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3"/>
          <p:cNvSpPr txBox="1"/>
          <p:nvPr/>
        </p:nvSpPr>
        <p:spPr>
          <a:xfrm>
            <a:off x="571500" y="3151882"/>
            <a:ext cx="520065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Core Classes: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571500" y="3494782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LoginPage.java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Handles user authentication and validation.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571500" y="4186237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ProductsPage.java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Manages inventory interaction and cart additions.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571500" y="4877692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CartPage.java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Controls the checkout process and item verification.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4"/>
          <p:cNvSpPr/>
          <p:nvPr/>
        </p:nvSpPr>
        <p:spPr>
          <a:xfrm>
            <a:off x="571500" y="2180332"/>
            <a:ext cx="11049000" cy="655290"/>
          </a:xfrm>
          <a:prstGeom prst="roundRect">
            <a:avLst>
              <a:gd name="adj" fmla="val 11628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 txBox="1"/>
          <p:nvPr/>
        </p:nvSpPr>
        <p:spPr>
          <a:xfrm>
            <a:off x="1143000" y="2370832"/>
            <a:ext cx="10287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Success: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Core functionality of Swag Labs was validated via both Manual and Automation testing.</a:t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571500" y="2180332"/>
            <a:ext cx="38100" cy="6552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571500" y="3026122"/>
            <a:ext cx="11049000" cy="655290"/>
          </a:xfrm>
          <a:prstGeom prst="roundRect">
            <a:avLst>
              <a:gd name="adj" fmla="val 11628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1143000" y="3216622"/>
            <a:ext cx="10287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Stability: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Automation scripts for Login, Cart, and Checkout executed without failure using the POM framework.</a:t>
            </a:r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571500" y="3026122"/>
            <a:ext cx="38100" cy="6552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571500" y="3871912"/>
            <a:ext cx="11049000" cy="655290"/>
          </a:xfrm>
          <a:prstGeom prst="roundRect">
            <a:avLst>
              <a:gd name="adj" fmla="val 11628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4"/>
          <p:cNvSpPr txBox="1"/>
          <p:nvPr/>
        </p:nvSpPr>
        <p:spPr>
          <a:xfrm>
            <a:off x="1143000" y="4062412"/>
            <a:ext cx="10287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Recommendation 1: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Implement a 'Search' functionality to improve user experience.</a:t>
            </a:r>
            <a:endParaRPr/>
          </a:p>
        </p:txBody>
      </p:sp>
      <p:sp>
        <p:nvSpPr>
          <p:cNvPr id="307" name="Google Shape;307;p24"/>
          <p:cNvSpPr/>
          <p:nvPr/>
        </p:nvSpPr>
        <p:spPr>
          <a:xfrm>
            <a:off x="571500" y="3871912"/>
            <a:ext cx="38100" cy="6552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571500" y="4717702"/>
            <a:ext cx="11049000" cy="655290"/>
          </a:xfrm>
          <a:prstGeom prst="roundRect">
            <a:avLst>
              <a:gd name="adj" fmla="val 11628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 txBox="1"/>
          <p:nvPr/>
        </p:nvSpPr>
        <p:spPr>
          <a:xfrm>
            <a:off x="1143000" y="4908202"/>
            <a:ext cx="10287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Recommendation 2: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Improve error message clarity for better user feedback during validation failures.</a:t>
            </a:r>
            <a:endParaRPr/>
          </a:p>
        </p:txBody>
      </p:sp>
      <p:sp>
        <p:nvSpPr>
          <p:cNvPr id="310" name="Google Shape;310;p24"/>
          <p:cNvSpPr/>
          <p:nvPr/>
        </p:nvSpPr>
        <p:spPr>
          <a:xfrm>
            <a:off x="571500" y="4717702"/>
            <a:ext cx="38100" cy="65529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241265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100" y="3258442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100" y="410423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0100" y="495002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Conclusion &amp; Recommendations</a:t>
            </a:r>
            <a:endParaRPr/>
          </a:p>
        </p:txBody>
      </p:sp>
      <p:sp>
        <p:nvSpPr>
          <p:cNvPr id="316" name="Google Shape;316;p24"/>
          <p:cNvSpPr/>
          <p:nvPr/>
        </p:nvSpPr>
        <p:spPr>
          <a:xfrm>
            <a:off x="571500" y="1247775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5"/>
          <p:cNvSpPr txBox="1"/>
          <p:nvPr/>
        </p:nvSpPr>
        <p:spPr>
          <a:xfrm>
            <a:off x="3375660" y="1936402"/>
            <a:ext cx="5440680" cy="1152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Questions?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3505200" y="3127266"/>
            <a:ext cx="5181600" cy="2523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Project by:</a:t>
            </a:r>
            <a:r>
              <a:rPr lang="ar-EG" sz="20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Mahmoud Abdo</a:t>
            </a:r>
            <a:endParaRPr lang="en-US" sz="2000" dirty="0">
              <a:solidFill>
                <a:schemeClr val="bg1"/>
              </a:solidFill>
            </a:endParaRPr>
          </a:p>
          <a:p>
            <a:pPr algn="ctr"/>
            <a:r>
              <a:rPr lang="en-US" sz="2000" b="1" dirty="0" err="1">
                <a:solidFill>
                  <a:schemeClr val="bg1"/>
                </a:solidFill>
              </a:rPr>
              <a:t>Reneh</a:t>
            </a:r>
            <a:r>
              <a:rPr lang="en-US" sz="2000" b="1" dirty="0">
                <a:solidFill>
                  <a:schemeClr val="bg1"/>
                </a:solidFill>
              </a:rPr>
              <a:t> Raafat</a:t>
            </a:r>
            <a:endParaRPr lang="en-US" sz="2000" dirty="0">
              <a:solidFill>
                <a:schemeClr val="bg1"/>
              </a:solidFill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Meran Ramadan</a:t>
            </a:r>
            <a:endParaRPr lang="en-US" sz="2000" dirty="0">
              <a:solidFill>
                <a:schemeClr val="bg1"/>
              </a:solidFill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Sarah Ashraf</a:t>
            </a:r>
            <a:endParaRPr lang="en-US" sz="2000" dirty="0">
              <a:solidFill>
                <a:schemeClr val="bg1"/>
              </a:solidFill>
            </a:endParaRP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Mazen </a:t>
            </a:r>
            <a:r>
              <a:rPr lang="en-US" sz="2000" b="1" dirty="0" err="1">
                <a:solidFill>
                  <a:schemeClr val="bg1"/>
                </a:solidFill>
              </a:rPr>
              <a:t>Azhary</a:t>
            </a:r>
            <a:endParaRPr lang="en-US" sz="2000" dirty="0">
              <a:solidFill>
                <a:schemeClr val="bg1"/>
              </a:solidFill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325" name="Google Shape;325;p25"/>
          <p:cNvSpPr txBox="1"/>
          <p:nvPr/>
        </p:nvSpPr>
        <p:spPr>
          <a:xfrm>
            <a:off x="3505200" y="5460969"/>
            <a:ext cx="5181600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Mentor: </a:t>
            </a:r>
            <a:r>
              <a:rPr lang="en-US" sz="32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Ahmed Essam</a:t>
            </a:r>
            <a:endParaRPr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736</Words>
  <Application>Microsoft Office PowerPoint</Application>
  <PresentationFormat>Widescreen</PresentationFormat>
  <Paragraphs>143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Inter</vt:lpstr>
      <vt:lpstr>Arial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مازن طارق عادل الازهري</cp:lastModifiedBy>
  <cp:revision>7</cp:revision>
  <dcterms:modified xsi:type="dcterms:W3CDTF">2025-11-30T16:25:03Z</dcterms:modified>
</cp:coreProperties>
</file>