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2000"/>
  <p:notesSz cx="6858000" cy="9144000"/>
  <p:embeddedFontLst>
    <p:embeddedFont>
      <p:font typeface="Inter"/>
      <p:regular r:id="rId21"/>
      <p:bold r:id="rId22"/>
      <p:italic r:id="rId23"/>
      <p:boldItalic r:id="rId24"/>
    </p:embeddedFont>
    <p:embeddedFont>
      <p:font typeface="JetBrains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EB0679-A7C9-446B-9019-816AF98FA4F6}">
  <a:tblStyle styleId="{47EB0679-A7C9-446B-9019-816AF98FA4F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-bold.fntdata"/><Relationship Id="rId21" Type="http://schemas.openxmlformats.org/officeDocument/2006/relationships/font" Target="fonts/Inter-regular.fntdata"/><Relationship Id="rId24" Type="http://schemas.openxmlformats.org/officeDocument/2006/relationships/font" Target="fonts/Inter-boldItalic.fntdata"/><Relationship Id="rId23" Type="http://schemas.openxmlformats.org/officeDocument/2006/relationships/font" Target="fonts/Inter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JetBrainsMono-bold.fntdata"/><Relationship Id="rId25" Type="http://schemas.openxmlformats.org/officeDocument/2006/relationships/font" Target="fonts/JetBrainsMono-regular.fntdata"/><Relationship Id="rId28" Type="http://schemas.openxmlformats.org/officeDocument/2006/relationships/font" Target="fonts/JetBrainsMono-boldItalic.fntdata"/><Relationship Id="rId27" Type="http://schemas.openxmlformats.org/officeDocument/2006/relationships/font" Target="fonts/JetBrainsMono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34.png"/><Relationship Id="rId7" Type="http://schemas.openxmlformats.org/officeDocument/2006/relationships/image" Target="../media/image2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9" Type="http://schemas.openxmlformats.org/officeDocument/2006/relationships/image" Target="../media/image29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32.png"/><Relationship Id="rId8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5.png"/><Relationship Id="rId5" Type="http://schemas.openxmlformats.org/officeDocument/2006/relationships/image" Target="../media/image13.png"/><Relationship Id="rId6" Type="http://schemas.openxmlformats.org/officeDocument/2006/relationships/image" Target="../media/image3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1.png"/><Relationship Id="rId5" Type="http://schemas.openxmlformats.org/officeDocument/2006/relationships/image" Target="../media/image18.png"/><Relationship Id="rId6" Type="http://schemas.openxmlformats.org/officeDocument/2006/relationships/image" Target="../media/image31.png"/><Relationship Id="rId7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5.png"/><Relationship Id="rId5" Type="http://schemas.openxmlformats.org/officeDocument/2006/relationships/image" Target="../media/image30.png"/><Relationship Id="rId6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595437" y="2207865"/>
            <a:ext cx="9001125" cy="1657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Swag Labs Testing &amp; Automation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809750" y="4055715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FINAL PROJECT DOCUMENTATION | DEPI INITIATIVE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1" name="Google Shape;9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2" name="Google Shape;9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271712"/>
            <a:ext cx="5334000" cy="30097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271712"/>
            <a:ext cx="5334000" cy="300975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962025" y="2662237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Project Context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62025" y="3348037"/>
            <a:ext cx="4552950" cy="1371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This project is part of the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Digital Egypt Pioneers Initiative (DEPI)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The primary objective is to execute a comprehensive Quality Assurance cycle, encompassing both manual and automation testing strategies.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677025" y="2662237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Target Application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677025" y="3348037"/>
            <a:ext cx="455295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Swag Labs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(saucedemo.com) serves as the testing ground. It is an educational e-commerce platform designed to simulate real-world QA scenarios, including Login, Inventory, and Checkout flows.</a:t>
            </a:r>
            <a:endParaRPr/>
          </a:p>
        </p:txBody>
      </p:sp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690812"/>
            <a:ext cx="3333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77025" y="2690812"/>
            <a:ext cx="33337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Introduction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6" name="Google Shape;1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71500" y="2315616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In Scope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381750" y="2524125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Out of Scope</a:t>
            </a:r>
            <a:endParaRPr/>
          </a:p>
        </p:txBody>
      </p:sp>
      <p:pic>
        <p:nvPicPr>
          <p:cNvPr descr="image.png" id="109" name="Google Shape;10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34666"/>
            <a:ext cx="1809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857250" y="2725191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Login Functionality Validation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57250" y="314235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Inventory Browsing &amp; Filtering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57250" y="3559522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 to Cart &amp; Cart Management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7250" y="397668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Full Checkout Process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57250" y="4393852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Manual Test Case Execution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57250" y="4811017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Selenium Automation (Java)</a:t>
            </a:r>
            <a:endParaRPr/>
          </a:p>
        </p:txBody>
      </p:sp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2543175"/>
            <a:ext cx="1809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6667500" y="293370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Performance Testing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6667500" y="3350865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Security Vulnerability Scanning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667500" y="376803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Load &amp; Stress Testing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6667500" y="4185195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Penetration Testing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6667500" y="460236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Mobile Application Testing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71500" y="2706141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571500" y="3123307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71500" y="3540472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571500" y="3957637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571500" y="4374802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571500" y="4791967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6381750" y="291465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6381750" y="3331815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6381750" y="374898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6381750" y="4166145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6381750" y="458331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Project Scope</a:t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9" name="Google Shape;13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175569"/>
            <a:ext cx="3492549" cy="32021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175569"/>
            <a:ext cx="3492549" cy="32021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175569"/>
            <a:ext cx="3492549" cy="32021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1547604" y="3223319"/>
            <a:ext cx="1540192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Methodology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866775" y="3813869"/>
            <a:ext cx="2901999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Functional, UI, Negative, and Regression testing to ensure application stability and reliability across core updates.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5780960" y="3223319"/>
            <a:ext cx="630078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Tools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4645074" y="3813869"/>
            <a:ext cx="2901999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Google Sheets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Test Management,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Jira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Bug Tracking, and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Postman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API checks.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9134207" y="3223319"/>
            <a:ext cx="148018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Environment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8423374" y="3813869"/>
            <a:ext cx="2901999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Tests executed on the Production Demo environment using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Google Chrome 131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for consistent rendering.</a:t>
            </a:r>
            <a:endParaRPr/>
          </a:p>
        </p:txBody>
      </p:sp>
      <p:pic>
        <p:nvPicPr>
          <p:cNvPr descr="image.png" id="149" name="Google Shape;14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89100" y="251846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0" name="Google Shape;150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67400" y="251846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45699" y="2518469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6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Test Strategy</a:t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8" name="Google Shape;15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9" name="Google Shape;159;p17"/>
          <p:cNvGraphicFramePr/>
          <p:nvPr/>
        </p:nvGraphicFramePr>
        <p:xfrm>
          <a:off x="571500" y="20679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{47EB0679-A7C9-446B-9019-816AF98FA4F6}</a:tableStyleId>
              </a:tblPr>
              <a:tblGrid>
                <a:gridCol w="1657350"/>
                <a:gridCol w="9391650"/>
              </a:tblGrid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Requirement Description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The system shall allow users to log in using valid credentials.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The inventory page shall display all available products correctly.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Users shall be able to add specific items to the shopping cart.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The checkout process shall require valid user information.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Users shall be able to remove items from the cart seamlessly.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0" name="Google Shape;160;p17"/>
          <p:cNvSpPr/>
          <p:nvPr/>
        </p:nvSpPr>
        <p:spPr>
          <a:xfrm>
            <a:off x="571500" y="2618482"/>
            <a:ext cx="1657350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2228850" y="2618482"/>
            <a:ext cx="9391650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571500" y="3202334"/>
            <a:ext cx="16573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2228850" y="3202334"/>
            <a:ext cx="93916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571500" y="3771900"/>
            <a:ext cx="16573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2228850" y="3771900"/>
            <a:ext cx="93916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571500" y="4341465"/>
            <a:ext cx="16573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2228850" y="4341465"/>
            <a:ext cx="93916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571500" y="4911030"/>
            <a:ext cx="16573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2228850" y="4911030"/>
            <a:ext cx="93916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Manual Testing Requirements</a:t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6" name="Google Shape;17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8"/>
          <p:cNvSpPr txBox="1"/>
          <p:nvPr/>
        </p:nvSpPr>
        <p:spPr>
          <a:xfrm>
            <a:off x="571500" y="1766887"/>
            <a:ext cx="52006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User Story: Login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571500" y="2443162"/>
            <a:ext cx="4953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571500" y="2462212"/>
            <a:ext cx="52006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US-01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571500" y="294798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"As a Standard User, I want to log in with valid credentials So that I can access the Inventory page."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571500" y="3782317"/>
            <a:ext cx="52006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Acceptance Criteria:</a:t>
            </a:r>
            <a:endParaRPr/>
          </a:p>
        </p:txBody>
      </p:sp>
      <p:pic>
        <p:nvPicPr>
          <p:cNvPr descr="image.png" id="182" name="Google Shape;18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 txBox="1"/>
          <p:nvPr/>
        </p:nvSpPr>
        <p:spPr>
          <a:xfrm>
            <a:off x="666750" y="4114740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762000" y="4115692"/>
            <a:ext cx="47625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Valid credentials redirect to </a:t>
            </a:r>
            <a:r>
              <a:rPr b="0" i="0" lang="en-US" sz="135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/inventory.html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666750" y="4389030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762000" y="4389983"/>
            <a:ext cx="47625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Invalid credentials display a red error message.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666750" y="4663320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762000" y="4664273"/>
            <a:ext cx="47625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Empty username/password triggers a validation error.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4" name="Google Shape;194;p19"/>
          <p:cNvGraphicFramePr/>
          <p:nvPr/>
        </p:nvGraphicFramePr>
        <p:xfrm>
          <a:off x="571500" y="23526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{47EB0679-A7C9-446B-9019-816AF98FA4F6}</a:tableStyleId>
              </a:tblPr>
              <a:tblGrid>
                <a:gridCol w="1632350"/>
                <a:gridCol w="1870325"/>
                <a:gridCol w="4486575"/>
                <a:gridCol w="3059750"/>
              </a:tblGrid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Title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Steps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Expected Result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TC-LOGIN-01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Valid Login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Enter valid user/pass &amp; Click Login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Redirect to Inventory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TC-LOGIN-02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Invalid Login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Enter invalid creds &amp; Click Login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Error message displayed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TC-INV-01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Add to Cart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Click "Add to Cart"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Cart icon count +1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TC-CHK-01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Checkout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Fill form &amp; Click Finish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"Complete" page appears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95" name="Google Shape;195;p19"/>
          <p:cNvSpPr/>
          <p:nvPr/>
        </p:nvSpPr>
        <p:spPr>
          <a:xfrm>
            <a:off x="571500" y="2903190"/>
            <a:ext cx="1632346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2203846" y="2903190"/>
            <a:ext cx="1870323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4074169" y="2903190"/>
            <a:ext cx="448657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8560742" y="2903190"/>
            <a:ext cx="3059757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571500" y="3487042"/>
            <a:ext cx="163234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2203846" y="3487042"/>
            <a:ext cx="187032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4074169" y="3487042"/>
            <a:ext cx="44865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8560742" y="3487042"/>
            <a:ext cx="305975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571500" y="4056608"/>
            <a:ext cx="163234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2203846" y="4056608"/>
            <a:ext cx="187032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4074169" y="4056608"/>
            <a:ext cx="44865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8560742" y="4056608"/>
            <a:ext cx="305975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571500" y="4626173"/>
            <a:ext cx="163234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2203846" y="4626173"/>
            <a:ext cx="187032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4074169" y="4626173"/>
            <a:ext cx="44865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8560742" y="4626173"/>
            <a:ext cx="305975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Test Cases (Sample)</a:t>
            </a:r>
            <a:endParaRPr/>
          </a:p>
        </p:txBody>
      </p:sp>
      <p:sp>
        <p:nvSpPr>
          <p:cNvPr id="212" name="Google Shape;212;p19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7" name="Google Shape;21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33550"/>
            <a:ext cx="5334000" cy="40860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733550"/>
            <a:ext cx="5334000" cy="4086076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0"/>
          <p:cNvSpPr txBox="1"/>
          <p:nvPr/>
        </p:nvSpPr>
        <p:spPr>
          <a:xfrm>
            <a:off x="962025" y="2124075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333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Traceability Matrix (RTM)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962025" y="2809875"/>
            <a:ext cx="455295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Ensuring complete test coverage by mapping Requirements to Test Cases.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6677025" y="2124075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667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Defect Report Sample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677025" y="2809875"/>
            <a:ext cx="4552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ID: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BUG-007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677025" y="3427065"/>
            <a:ext cx="4552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Title: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Cart icon does not update for multiple items.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677025" y="3968055"/>
            <a:ext cx="4552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Priority: High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i="0" lang="en-US" sz="13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Severity: Medium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677025" y="4556670"/>
            <a:ext cx="455295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Actual:</a:t>
            </a: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Cart icon stuck on "1".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Expected:</a:t>
            </a: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Cart count shows "2".</a:t>
            </a:r>
            <a:endParaRPr/>
          </a:p>
        </p:txBody>
      </p:sp>
      <p:pic>
        <p:nvPicPr>
          <p:cNvPr descr="image.png" id="227" name="Google Shape;22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2025" y="2152650"/>
            <a:ext cx="333375" cy="2667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8" name="Google Shape;228;p20"/>
          <p:cNvGraphicFramePr/>
          <p:nvPr/>
        </p:nvGraphicFramePr>
        <p:xfrm>
          <a:off x="962025" y="372040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{47EB0679-A7C9-446B-9019-816AF98FA4F6}</a:tableStyleId>
              </a:tblPr>
              <a:tblGrid>
                <a:gridCol w="1316375"/>
                <a:gridCol w="1165625"/>
                <a:gridCol w="2070950"/>
              </a:tblGrid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Story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8FAFC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Test Case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4155"/>
                    </a:solidFill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US-01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TC-LOGIN-01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95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REQ-03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US-03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CBD5E1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TC-INV-01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age.png" id="229" name="Google Shape;22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77025" y="215265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/>
          <p:nvPr/>
        </p:nvSpPr>
        <p:spPr>
          <a:xfrm>
            <a:off x="962025" y="4270920"/>
            <a:ext cx="1316384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0"/>
          <p:cNvSpPr/>
          <p:nvPr/>
        </p:nvSpPr>
        <p:spPr>
          <a:xfrm>
            <a:off x="2278409" y="4270920"/>
            <a:ext cx="1165621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3444031" y="4270920"/>
            <a:ext cx="2070943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/>
          <p:nvPr/>
        </p:nvSpPr>
        <p:spPr>
          <a:xfrm>
            <a:off x="962025" y="4854773"/>
            <a:ext cx="131638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0"/>
          <p:cNvSpPr/>
          <p:nvPr/>
        </p:nvSpPr>
        <p:spPr>
          <a:xfrm>
            <a:off x="2278409" y="4854773"/>
            <a:ext cx="116562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3444031" y="4854773"/>
            <a:ext cx="20709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Traceability &amp; Defects</a:t>
            </a:r>
            <a:endParaRPr/>
          </a:p>
        </p:txBody>
      </p:sp>
      <p:sp>
        <p:nvSpPr>
          <p:cNvPr id="237" name="Google Shape;237;p20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2" name="Google Shape;24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1"/>
          <p:cNvSpPr txBox="1"/>
          <p:nvPr/>
        </p:nvSpPr>
        <p:spPr>
          <a:xfrm>
            <a:off x="571500" y="2444204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Automation Scope</a:t>
            </a:r>
            <a:endParaRPr/>
          </a:p>
        </p:txBody>
      </p:sp>
      <p:sp>
        <p:nvSpPr>
          <p:cNvPr id="244" name="Google Shape;244;p21"/>
          <p:cNvSpPr txBox="1"/>
          <p:nvPr/>
        </p:nvSpPr>
        <p:spPr>
          <a:xfrm>
            <a:off x="571500" y="2834729"/>
            <a:ext cx="523875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Automation focuses on critical, repetitive paths to ensure regression stability. Unstable UI elements (animations) are excluded.</a:t>
            </a:r>
            <a:endParaRPr/>
          </a:p>
        </p:txBody>
      </p:sp>
      <p:sp>
        <p:nvSpPr>
          <p:cNvPr id="245" name="Google Shape;245;p21"/>
          <p:cNvSpPr txBox="1"/>
          <p:nvPr/>
        </p:nvSpPr>
        <p:spPr>
          <a:xfrm>
            <a:off x="6381750" y="2581275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Framework Details</a:t>
            </a:r>
            <a:endParaRPr/>
          </a:p>
        </p:txBody>
      </p:sp>
      <p:sp>
        <p:nvSpPr>
          <p:cNvPr id="246" name="Google Shape;246;p21"/>
          <p:cNvSpPr txBox="1"/>
          <p:nvPr/>
        </p:nvSpPr>
        <p:spPr>
          <a:xfrm>
            <a:off x="6381750" y="2971800"/>
            <a:ext cx="523875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Built using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Selenium WebDriver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with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Java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implementing the </a:t>
            </a: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Page Object Model (POM)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design pattern.</a:t>
            </a:r>
            <a:endParaRPr/>
          </a:p>
        </p:txBody>
      </p:sp>
      <p:sp>
        <p:nvSpPr>
          <p:cNvPr id="247" name="Google Shape;247;p21"/>
          <p:cNvSpPr txBox="1"/>
          <p:nvPr/>
        </p:nvSpPr>
        <p:spPr>
          <a:xfrm>
            <a:off x="857250" y="384810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Successful Login Flow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857250" y="4265265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 Item to Cart</a:t>
            </a:r>
            <a:endParaRPr/>
          </a:p>
        </p:txBody>
      </p:sp>
      <p:sp>
        <p:nvSpPr>
          <p:cNvPr id="249" name="Google Shape;249;p21"/>
          <p:cNvSpPr txBox="1"/>
          <p:nvPr/>
        </p:nvSpPr>
        <p:spPr>
          <a:xfrm>
            <a:off x="857250" y="468243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End-to-End Checkout</a:t>
            </a:r>
            <a:endParaRPr/>
          </a:p>
        </p:txBody>
      </p:sp>
      <p:sp>
        <p:nvSpPr>
          <p:cNvPr id="250" name="Google Shape;250;p21"/>
          <p:cNvSpPr txBox="1"/>
          <p:nvPr/>
        </p:nvSpPr>
        <p:spPr>
          <a:xfrm>
            <a:off x="6667500" y="371088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Separation of Test Logic &amp; Locators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6667500" y="4128045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Reusability of code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6667500" y="4545210"/>
            <a:ext cx="4953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Explicit Waits for synchronization</a:t>
            </a: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571500" y="382905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descr="image.png" id="254" name="Google Shape;25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7250" y="3895725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1"/>
          <p:cNvSpPr txBox="1"/>
          <p:nvPr/>
        </p:nvSpPr>
        <p:spPr>
          <a:xfrm>
            <a:off x="571500" y="4246215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descr="image.png" id="256" name="Google Shape;256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4312890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1"/>
          <p:cNvSpPr txBox="1"/>
          <p:nvPr/>
        </p:nvSpPr>
        <p:spPr>
          <a:xfrm>
            <a:off x="571500" y="466338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descr="image.png" id="258" name="Google Shape;258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7250" y="4730055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1"/>
          <p:cNvSpPr txBox="1"/>
          <p:nvPr/>
        </p:nvSpPr>
        <p:spPr>
          <a:xfrm>
            <a:off x="6381750" y="369183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0" name="Google Shape;260;p21"/>
          <p:cNvSpPr txBox="1"/>
          <p:nvPr/>
        </p:nvSpPr>
        <p:spPr>
          <a:xfrm>
            <a:off x="6381750" y="4108995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6381750" y="4526160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2" name="Google Shape;262;p21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Automation Strategy</a:t>
            </a:r>
            <a:endParaRPr/>
          </a:p>
        </p:txBody>
      </p:sp>
      <p:sp>
        <p:nvSpPr>
          <p:cNvPr id="263" name="Google Shape;263;p21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8" name="Google Shape;26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9" name="Google Shape;26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32807"/>
            <a:ext cx="3093690" cy="20687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49080" y="3069877"/>
            <a:ext cx="3093690" cy="17944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26660" y="3069877"/>
            <a:ext cx="3093690" cy="179442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2"/>
          <p:cNvSpPr/>
          <p:nvPr/>
        </p:nvSpPr>
        <p:spPr>
          <a:xfrm>
            <a:off x="571500" y="3957637"/>
            <a:ext cx="11049000" cy="19050"/>
          </a:xfrm>
          <a:prstGeom prst="roundRect">
            <a:avLst>
              <a:gd fmla="val 16667" name="adj"/>
            </a:avLst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 txBox="1"/>
          <p:nvPr/>
        </p:nvSpPr>
        <p:spPr>
          <a:xfrm>
            <a:off x="704183" y="3132832"/>
            <a:ext cx="282832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Scenario 1: Login</a:t>
            </a:r>
            <a:endParaRPr/>
          </a:p>
        </p:txBody>
      </p:sp>
      <p:sp>
        <p:nvSpPr>
          <p:cNvPr id="274" name="Google Shape;274;p22"/>
          <p:cNvSpPr txBox="1"/>
          <p:nvPr/>
        </p:nvSpPr>
        <p:spPr>
          <a:xfrm>
            <a:off x="771525" y="3532882"/>
            <a:ext cx="269364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Navigate to login, enter valid credentials, and assert redirection to the Inventory page.</a:t>
            </a:r>
            <a:endParaRPr/>
          </a:p>
        </p:txBody>
      </p:sp>
      <p:sp>
        <p:nvSpPr>
          <p:cNvPr id="275" name="Google Shape;275;p22"/>
          <p:cNvSpPr txBox="1"/>
          <p:nvPr/>
        </p:nvSpPr>
        <p:spPr>
          <a:xfrm>
            <a:off x="4681764" y="3269902"/>
            <a:ext cx="282832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Scenario 2: Cart</a:t>
            </a:r>
            <a:endParaRPr/>
          </a:p>
        </p:txBody>
      </p:sp>
      <p:sp>
        <p:nvSpPr>
          <p:cNvPr id="276" name="Google Shape;276;p22"/>
          <p:cNvSpPr txBox="1"/>
          <p:nvPr/>
        </p:nvSpPr>
        <p:spPr>
          <a:xfrm>
            <a:off x="4749105" y="3669952"/>
            <a:ext cx="269364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Identify a specific product, click "Add to Cart", and assert the badge count updates.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8659344" y="3269902"/>
            <a:ext cx="282832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Scenario 3: Checkout</a:t>
            </a:r>
            <a:endParaRPr/>
          </a:p>
        </p:txBody>
      </p:sp>
      <p:sp>
        <p:nvSpPr>
          <p:cNvPr id="278" name="Google Shape;278;p22"/>
          <p:cNvSpPr txBox="1"/>
          <p:nvPr/>
        </p:nvSpPr>
        <p:spPr>
          <a:xfrm>
            <a:off x="8726685" y="3669952"/>
            <a:ext cx="2693640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Proceed to cart, fill customer details, complete order, and verify success message.</a:t>
            </a:r>
            <a:endParaRPr/>
          </a:p>
        </p:txBody>
      </p:sp>
      <p:sp>
        <p:nvSpPr>
          <p:cNvPr id="279" name="Google Shape;279;p22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Automated Scenarios</a:t>
            </a:r>
            <a:endParaRPr/>
          </a:p>
        </p:txBody>
      </p:sp>
      <p:sp>
        <p:nvSpPr>
          <p:cNvPr id="280" name="Google Shape;280;p22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5" name="Google Shape;28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3"/>
          <p:cNvSpPr txBox="1"/>
          <p:nvPr/>
        </p:nvSpPr>
        <p:spPr>
          <a:xfrm>
            <a:off x="571500" y="1279326"/>
            <a:ext cx="52006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Page Object Model</a:t>
            </a: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71500" y="1955601"/>
            <a:ext cx="4953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3"/>
          <p:cNvSpPr txBox="1"/>
          <p:nvPr/>
        </p:nvSpPr>
        <p:spPr>
          <a:xfrm>
            <a:off x="571500" y="2146101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The framework utilizes a modular structure to enhance maintainability and readability.</a:t>
            </a:r>
            <a:endParaRPr/>
          </a:p>
        </p:txBody>
      </p:sp>
      <p:pic>
        <p:nvPicPr>
          <p:cNvPr descr="image.png" id="289" name="Google Shape;28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3"/>
          <p:cNvSpPr txBox="1"/>
          <p:nvPr/>
        </p:nvSpPr>
        <p:spPr>
          <a:xfrm>
            <a:off x="571500" y="3151882"/>
            <a:ext cx="52006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Core Classes:</a:t>
            </a:r>
            <a:endParaRPr/>
          </a:p>
        </p:txBody>
      </p:sp>
      <p:sp>
        <p:nvSpPr>
          <p:cNvPr id="291" name="Google Shape;291;p23"/>
          <p:cNvSpPr txBox="1"/>
          <p:nvPr/>
        </p:nvSpPr>
        <p:spPr>
          <a:xfrm>
            <a:off x="571500" y="349478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LoginPage.java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Handles user authentication and validation.</a:t>
            </a:r>
            <a:endParaRPr/>
          </a:p>
        </p:txBody>
      </p:sp>
      <p:sp>
        <p:nvSpPr>
          <p:cNvPr id="292" name="Google Shape;292;p23"/>
          <p:cNvSpPr txBox="1"/>
          <p:nvPr/>
        </p:nvSpPr>
        <p:spPr>
          <a:xfrm>
            <a:off x="571500" y="4186237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ProductsPage.java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Manages inventory interaction and cart additions.</a:t>
            </a:r>
            <a:endParaRPr/>
          </a:p>
        </p:txBody>
      </p:sp>
      <p:sp>
        <p:nvSpPr>
          <p:cNvPr id="293" name="Google Shape;293;p23"/>
          <p:cNvSpPr txBox="1"/>
          <p:nvPr/>
        </p:nvSpPr>
        <p:spPr>
          <a:xfrm>
            <a:off x="571500" y="487769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ADE80"/>
                </a:solidFill>
                <a:latin typeface="Inter"/>
                <a:ea typeface="Inter"/>
                <a:cs typeface="Inter"/>
                <a:sym typeface="Inter"/>
              </a:rPr>
              <a:t>CartPage.java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Controls the checkout process and item verification.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8" name="Google Shape;29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4"/>
          <p:cNvSpPr/>
          <p:nvPr/>
        </p:nvSpPr>
        <p:spPr>
          <a:xfrm>
            <a:off x="571500" y="2180332"/>
            <a:ext cx="11049000" cy="655290"/>
          </a:xfrm>
          <a:prstGeom prst="roundRect">
            <a:avLst>
              <a:gd fmla="val 11628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4"/>
          <p:cNvSpPr txBox="1"/>
          <p:nvPr/>
        </p:nvSpPr>
        <p:spPr>
          <a:xfrm>
            <a:off x="1143000" y="2370832"/>
            <a:ext cx="10287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Success: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Core functionality of Swag Labs was validated via both Manual and Automation testing.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571500" y="2180332"/>
            <a:ext cx="38100" cy="65529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571500" y="3026122"/>
            <a:ext cx="11049000" cy="655290"/>
          </a:xfrm>
          <a:prstGeom prst="roundRect">
            <a:avLst>
              <a:gd fmla="val 11628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1143000" y="3216622"/>
            <a:ext cx="10287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Stability: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Automation scripts for Login, Cart, and Checkout executed without failure using the POM framework.</a:t>
            </a:r>
            <a:endParaRPr/>
          </a:p>
        </p:txBody>
      </p:sp>
      <p:sp>
        <p:nvSpPr>
          <p:cNvPr id="304" name="Google Shape;304;p24"/>
          <p:cNvSpPr/>
          <p:nvPr/>
        </p:nvSpPr>
        <p:spPr>
          <a:xfrm>
            <a:off x="571500" y="3026122"/>
            <a:ext cx="38100" cy="65529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4"/>
          <p:cNvSpPr/>
          <p:nvPr/>
        </p:nvSpPr>
        <p:spPr>
          <a:xfrm>
            <a:off x="571500" y="3871912"/>
            <a:ext cx="11049000" cy="655290"/>
          </a:xfrm>
          <a:prstGeom prst="roundRect">
            <a:avLst>
              <a:gd fmla="val 11628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4"/>
          <p:cNvSpPr txBox="1"/>
          <p:nvPr/>
        </p:nvSpPr>
        <p:spPr>
          <a:xfrm>
            <a:off x="1143000" y="4062412"/>
            <a:ext cx="10287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Recommendation 1: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Implement a 'Search' functionality to improve user experience.</a:t>
            </a:r>
            <a:endParaRPr/>
          </a:p>
        </p:txBody>
      </p:sp>
      <p:sp>
        <p:nvSpPr>
          <p:cNvPr id="307" name="Google Shape;307;p24"/>
          <p:cNvSpPr/>
          <p:nvPr/>
        </p:nvSpPr>
        <p:spPr>
          <a:xfrm>
            <a:off x="571500" y="3871912"/>
            <a:ext cx="38100" cy="65529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4"/>
          <p:cNvSpPr/>
          <p:nvPr/>
        </p:nvSpPr>
        <p:spPr>
          <a:xfrm>
            <a:off x="571500" y="4717702"/>
            <a:ext cx="11049000" cy="655290"/>
          </a:xfrm>
          <a:prstGeom prst="roundRect">
            <a:avLst>
              <a:gd fmla="val 11628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4"/>
          <p:cNvSpPr txBox="1"/>
          <p:nvPr/>
        </p:nvSpPr>
        <p:spPr>
          <a:xfrm>
            <a:off x="1143000" y="4908202"/>
            <a:ext cx="102870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Recommendation 2:</a:t>
            </a: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Improve error message clarity for better user feedback during validation failures.</a:t>
            </a:r>
            <a:endParaRPr/>
          </a:p>
        </p:txBody>
      </p:sp>
      <p:sp>
        <p:nvSpPr>
          <p:cNvPr id="310" name="Google Shape;310;p24"/>
          <p:cNvSpPr/>
          <p:nvPr/>
        </p:nvSpPr>
        <p:spPr>
          <a:xfrm>
            <a:off x="571500" y="4717702"/>
            <a:ext cx="38100" cy="65529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1" name="Google Shape;31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0100" y="2412652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0100" y="3258442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4104233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0100" y="4950023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Conclusion &amp; Recommendations</a:t>
            </a:r>
            <a:endParaRPr/>
          </a:p>
        </p:txBody>
      </p:sp>
      <p:sp>
        <p:nvSpPr>
          <p:cNvPr id="316" name="Google Shape;316;p24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1" name="Google Shape;32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5"/>
          <p:cNvSpPr txBox="1"/>
          <p:nvPr/>
        </p:nvSpPr>
        <p:spPr>
          <a:xfrm>
            <a:off x="3375660" y="1936402"/>
            <a:ext cx="5440680" cy="1152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Questions?</a:t>
            </a:r>
            <a:endParaRPr/>
          </a:p>
        </p:txBody>
      </p:sp>
      <p:sp>
        <p:nvSpPr>
          <p:cNvPr id="323" name="Google Shape;323;p25"/>
          <p:cNvSpPr txBox="1"/>
          <p:nvPr/>
        </p:nvSpPr>
        <p:spPr>
          <a:xfrm>
            <a:off x="3505200" y="3374677"/>
            <a:ext cx="51816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Thank you for reviewing the Swag Labs Documentation.</a:t>
            </a:r>
            <a:endParaRPr/>
          </a:p>
        </p:txBody>
      </p:sp>
      <p:sp>
        <p:nvSpPr>
          <p:cNvPr id="324" name="Google Shape;324;p25"/>
          <p:cNvSpPr txBox="1"/>
          <p:nvPr/>
        </p:nvSpPr>
        <p:spPr>
          <a:xfrm>
            <a:off x="3505200" y="4029967"/>
            <a:ext cx="51816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Project by: [Student Name]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3505200" y="4475708"/>
            <a:ext cx="51816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Mentor: [Mentor Name]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0" name="Google Shape;33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6"/>
          <p:cNvSpPr/>
          <p:nvPr/>
        </p:nvSpPr>
        <p:spPr>
          <a:xfrm>
            <a:off x="571500" y="337944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6"/>
          <p:cNvSpPr/>
          <p:nvPr/>
        </p:nvSpPr>
        <p:spPr>
          <a:xfrm>
            <a:off x="571500" y="416421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3" name="Google Shape;33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75361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6"/>
          <p:cNvSpPr txBox="1"/>
          <p:nvPr/>
        </p:nvSpPr>
        <p:spPr>
          <a:xfrm>
            <a:off x="1666875" y="2747069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https://miro.medium.com/v2/resize:fit:1200/1*VGDQ_CqKuqp3A6DRx2XPeA.png</a:t>
            </a:r>
            <a:endParaRPr/>
          </a:p>
        </p:txBody>
      </p:sp>
      <p:sp>
        <p:nvSpPr>
          <p:cNvPr id="335" name="Google Shape;335;p26"/>
          <p:cNvSpPr txBox="1"/>
          <p:nvPr/>
        </p:nvSpPr>
        <p:spPr>
          <a:xfrm>
            <a:off x="1666875" y="2992784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medium.com</a:t>
            </a:r>
            <a:endParaRPr/>
          </a:p>
        </p:txBody>
      </p:sp>
      <p:pic>
        <p:nvPicPr>
          <p:cNvPr descr="image.png" id="336" name="Google Shape;336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53838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6"/>
          <p:cNvSpPr txBox="1"/>
          <p:nvPr/>
        </p:nvSpPr>
        <p:spPr>
          <a:xfrm>
            <a:off x="1666875" y="3531840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https://browserstack.wpenginepowered.com/wp-content/uploads/2020/06/BrowserStackSignUpPage-700x656.png</a:t>
            </a:r>
            <a:endParaRPr/>
          </a:p>
        </p:txBody>
      </p:sp>
      <p:sp>
        <p:nvSpPr>
          <p:cNvPr id="338" name="Google Shape;338;p26"/>
          <p:cNvSpPr txBox="1"/>
          <p:nvPr/>
        </p:nvSpPr>
        <p:spPr>
          <a:xfrm>
            <a:off x="1666875" y="3777555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www.browserstack.com</a:t>
            </a:r>
            <a:endParaRPr/>
          </a:p>
        </p:txBody>
      </p:sp>
      <p:pic>
        <p:nvPicPr>
          <p:cNvPr descr="image.png" id="339" name="Google Shape;339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2315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6"/>
          <p:cNvSpPr txBox="1"/>
          <p:nvPr/>
        </p:nvSpPr>
        <p:spPr>
          <a:xfrm>
            <a:off x="1666875" y="4316610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https://img.freepik.com/premium-vector/cyber-security-fingerprint-dark-blue-abstract-digital-conceptual-technology-background_87946-472.jpg</a:t>
            </a:r>
            <a:endParaRPr/>
          </a:p>
        </p:txBody>
      </p:sp>
      <p:sp>
        <p:nvSpPr>
          <p:cNvPr id="341" name="Google Shape;341;p26"/>
          <p:cNvSpPr txBox="1"/>
          <p:nvPr/>
        </p:nvSpPr>
        <p:spPr>
          <a:xfrm>
            <a:off x="1666875" y="4562326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rPr>
              <a:t>www.freepik.com</a:t>
            </a:r>
            <a:endParaRPr/>
          </a:p>
        </p:txBody>
      </p:sp>
      <p:sp>
        <p:nvSpPr>
          <p:cNvPr id="342" name="Google Shape;342;p26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Image Sources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12477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